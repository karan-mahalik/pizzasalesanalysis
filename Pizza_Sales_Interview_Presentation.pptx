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280160"/>
            <a:ext cx="3840480" cy="3840480"/>
          </a:xfrm>
          <a:prstGeom prst="ellipse">
            <a:avLst/>
          </a:prstGeom>
          <a:solidFill>
            <a:srgbClr val="F9616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291840" cy="3291840"/>
          </a:xfrm>
          <a:prstGeom prst="ellipse">
            <a:avLst/>
          </a:prstGeom>
          <a:solidFill>
            <a:srgbClr val="F9E795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PIZZA SALES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ANALYSIS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5661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SQL + Power BI business intelligence project — from raw transaction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to an interactive executive dashboard.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526280"/>
            <a:ext cx="1152144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526280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39696" y="4526280"/>
            <a:ext cx="972922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39696" y="4526280"/>
            <a:ext cx="9729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77210" y="4526280"/>
            <a:ext cx="524866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77210" y="4526280"/>
            <a:ext cx="5248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966667" y="4526280"/>
            <a:ext cx="1420978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66667" y="4526280"/>
            <a:ext cx="1420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52237" y="4526280"/>
            <a:ext cx="1869034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52237" y="4526280"/>
            <a:ext cx="18690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Analytics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Portfolio 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I'll Walk You Through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166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BE3DD"/>
            </a:solidFill>
            <a:prstDash val="solid"/>
          </a:ln>
          <a:effectLst>
            <a:outerShdw sx="100000" sy="100000" kx="0" ky="0" algn="bl" rotWithShape="0" blurRad="76200" dist="25400" dir="5400000">
              <a:srgbClr val="3A3335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581912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600200" y="1600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600200" y="198424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store needed this analysis and what leadership asked for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172200" y="1417320"/>
            <a:ext cx="5166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BE3DD"/>
            </a:solidFill>
            <a:prstDash val="solid"/>
          </a:ln>
          <a:effectLst>
            <a:outerShdw sx="100000" sy="100000" kx="0" ky="0" algn="bl" rotWithShape="0" blurRad="76200" dist="25400" dir="5400000">
              <a:srgbClr val="3A3335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1581912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223760" y="1600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Tools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223760" y="198424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dataset, and the SQL Server + Power BI pipeline I built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5166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BE3DD"/>
            </a:solidFill>
            <a:prstDash val="solid"/>
          </a:ln>
          <a:effectLst>
            <a:outerShdw sx="100000" sy="100000" kx="0" ky="0" algn="bl" rotWithShape="0" blurRad="76200" dist="25400" dir="5400000">
              <a:srgbClr val="3A3335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3182112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600200" y="3200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&amp; SQL Logic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600200" y="358444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core metrics, calculated directly in T-SQL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72200" y="3017520"/>
            <a:ext cx="5166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BE3DD"/>
            </a:solidFill>
            <a:prstDash val="solid"/>
          </a:ln>
          <a:effectLst>
            <a:outerShdw sx="100000" sy="100000" kx="0" ky="0" algn="bl" rotWithShape="0" blurRad="76200" dist="25400" dir="5400000">
              <a:srgbClr val="3A3335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0" y="3182112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7223760" y="3200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Walkthrough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223760" y="358444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interactive report — trends, category &amp; size breakdowns, best/worst sellers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617720"/>
            <a:ext cx="5166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BE3DD"/>
            </a:solidFill>
            <a:prstDash val="solid"/>
          </a:ln>
          <a:effectLst>
            <a:outerShdw sx="100000" sy="100000" kx="0" ky="0" algn="bl" rotWithShape="0" blurRad="76200" dist="25400" dir="5400000">
              <a:srgbClr val="3A3335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" y="4782312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1600200" y="48006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600200" y="518464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numbers actually told the business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72200" y="4617720"/>
            <a:ext cx="5166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BE3DD"/>
            </a:solidFill>
            <a:prstDash val="solid"/>
          </a:ln>
          <a:effectLst>
            <a:outerShdw sx="100000" sy="100000" kx="0" ky="0" algn="bl" rotWithShape="0" blurRad="76200" dist="25400" dir="5400000">
              <a:srgbClr val="3A3335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0" y="4782312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7223760" y="48006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Demonstrated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223760" y="518464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shows about how I work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Sales Performance Analysis  |  SQL + Power BI Project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6675120" cy="4846320"/>
          </a:xfrm>
          <a:prstGeom prst="roundRect">
            <a:avLst>
              <a:gd name="adj" fmla="val 1509"/>
            </a:avLst>
          </a:prstGeom>
          <a:solidFill>
            <a:srgbClr val="2F3C7E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0020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needed a single source of truth for pizza sales performance — before this, insights lived in scattered spreadsheets with no consistent metrics.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6974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things were requested: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3154680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303580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Requirements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3328416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Revenue, Average Order Value, Total Pizzas Sold, Total Orders, and Average Pizzas per Order — calculated reliably from raw order data.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4206240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408736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Requirements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4379976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visuals covering daily, hourly and monthly trends, category and size mix, and best/worst sellers by revenue, quantity and orders.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525780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 Turn raw transaction data into an interactive report that lets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see performance at a glance and drill into detail. ”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406640" y="1280160"/>
            <a:ext cx="4206240" cy="484632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BE3DD"/>
            </a:solidFill>
            <a:prstDash val="solid"/>
          </a:ln>
          <a:effectLst>
            <a:outerShdw sx="100000" sy="100000" kx="0" ky="0" algn="bl" rotWithShape="0" blurRad="76200" dist="25400" dir="5400000">
              <a:srgbClr val="3A3335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68096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ROLE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680960" y="192024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9E795"/>
          </a:solidFill>
          <a:ln/>
        </p:spPr>
      </p:sp>
      <p:sp>
        <p:nvSpPr>
          <p:cNvPr id="16" name="Text 14"/>
          <p:cNvSpPr/>
          <p:nvPr/>
        </p:nvSpPr>
        <p:spPr>
          <a:xfrm>
            <a:off x="8001000" y="1837944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and cleaned the raw order-level CSV export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680960" y="257860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9E795"/>
          </a:solidFill>
          <a:ln/>
        </p:spPr>
      </p:sp>
      <p:sp>
        <p:nvSpPr>
          <p:cNvPr id="18" name="Text 16"/>
          <p:cNvSpPr/>
          <p:nvPr/>
        </p:nvSpPr>
        <p:spPr>
          <a:xfrm>
            <a:off x="8001000" y="249631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all T-SQL queries for KPIs and chart datasets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680960" y="323697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9E795"/>
          </a:solidFill>
          <a:ln/>
        </p:spPr>
      </p:sp>
      <p:sp>
        <p:nvSpPr>
          <p:cNvPr id="20" name="Text 18"/>
          <p:cNvSpPr/>
          <p:nvPr/>
        </p:nvSpPr>
        <p:spPr>
          <a:xfrm>
            <a:off x="8001000" y="315468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the Power BI data model and DAX measures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680960" y="3895344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9E795"/>
          </a:solidFill>
          <a:ln/>
        </p:spPr>
      </p:sp>
      <p:sp>
        <p:nvSpPr>
          <p:cNvPr id="22" name="Text 20"/>
          <p:cNvSpPr/>
          <p:nvPr/>
        </p:nvSpPr>
        <p:spPr>
          <a:xfrm>
            <a:off x="8001000" y="3813048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 interactive, filterable executive dashboard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680960" y="455371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9E795"/>
          </a:solidFill>
          <a:ln/>
        </p:spPr>
      </p:sp>
      <p:sp>
        <p:nvSpPr>
          <p:cNvPr id="24" name="Text 22"/>
          <p:cNvSpPr/>
          <p:nvPr/>
        </p:nvSpPr>
        <p:spPr>
          <a:xfrm>
            <a:off x="8001000" y="4471416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Interpreted results into business recommendations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Sales Performance Analysis  |  SQL + Power BI Project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 &amp; Pipeline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year of pizza-store order data (Jan – Dec), flowing through three stages: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3832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BE3DD"/>
            </a:solidFill>
            <a:prstDash val="solid"/>
          </a:ln>
          <a:effectLst>
            <a:outerShdw sx="100000" sy="100000" kx="0" ky="0" algn="bl" rotWithShape="0" blurRad="76200" dist="25400" dir="5400000">
              <a:srgbClr val="3A333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9456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33756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 of order-level pizza transactions (order id, date, time, pizza, size, category, quantity, unit price)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950208" y="292608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251960" y="1920240"/>
            <a:ext cx="33832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BE3DD"/>
            </a:solidFill>
            <a:prstDash val="solid"/>
          </a:ln>
          <a:effectLst>
            <a:outerShdw sx="100000" sy="100000" kx="0" ky="0" algn="bl" rotWithShape="0" blurRad="76200" dist="25400" dir="5400000">
              <a:srgbClr val="3A3335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26280" y="219456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26280" y="2926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26280" y="333756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into a SQL Server database (Pizza_Store). Wrote T-SQL to calculate KPIs and shape data for every chart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653528" y="292608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7955280" y="1920240"/>
            <a:ext cx="33832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BE3DD"/>
            </a:solidFill>
            <a:prstDash val="solid"/>
          </a:ln>
          <a:effectLst>
            <a:outerShdw sx="100000" sy="100000" kx="0" ky="0" algn="bl" rotWithShape="0" blurRad="76200" dist="25400" dir="5400000">
              <a:srgbClr val="3A3335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0" y="219456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229600" y="2926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0" y="333756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Power BI to the query results; built the data model, DAX measures, and an interactive report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93776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2F3C7E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120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Table:  pizza_sales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546811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order_id • order_date • order_time • pizza_name • pizza_category • pizza_size • quantity • unit_price • total_price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Sales Performance Analysis  |  SQL + Power BI Project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KPIs, Calculated in T-SQL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121408" cy="1417320"/>
          </a:xfrm>
          <a:prstGeom prst="roundRect">
            <a:avLst>
              <a:gd name="adj" fmla="val 5161"/>
            </a:avLst>
          </a:prstGeom>
          <a:solidFill>
            <a:srgbClr val="2F3C7E"/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15087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$817.86K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58368" y="2084832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237744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SUM(quantity × unit_price)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88920" y="1371600"/>
            <a:ext cx="2121408" cy="1417320"/>
          </a:xfrm>
          <a:prstGeom prst="roundRect">
            <a:avLst>
              <a:gd name="adj" fmla="val 5161"/>
            </a:avLst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2898648" y="15087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$38.31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898648" y="2084832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98648" y="237744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÷ distinct orders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0" y="1371600"/>
            <a:ext cx="2121408" cy="1417320"/>
          </a:xfrm>
          <a:prstGeom prst="roundRect">
            <a:avLst>
              <a:gd name="adj" fmla="val 5161"/>
            </a:avLst>
          </a:prstGeom>
          <a:solidFill>
            <a:srgbClr val="2F3C7E"/>
          </a:solidFill>
          <a:ln/>
        </p:spPr>
      </p:sp>
      <p:sp>
        <p:nvSpPr>
          <p:cNvPr id="12" name="Text 10"/>
          <p:cNvSpPr/>
          <p:nvPr/>
        </p:nvSpPr>
        <p:spPr>
          <a:xfrm>
            <a:off x="5138928" y="15087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49,574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138928" y="2084832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Pizzas Sold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38928" y="237744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SUM(quantity)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269480" y="1371600"/>
            <a:ext cx="2121408" cy="1417320"/>
          </a:xfrm>
          <a:prstGeom prst="roundRect">
            <a:avLst>
              <a:gd name="adj" fmla="val 5161"/>
            </a:avLst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7379208" y="15087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21,350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379208" y="2084832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79208" y="237744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COUNT(DISTINCT order_id)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509760" y="1371600"/>
            <a:ext cx="2121408" cy="1417320"/>
          </a:xfrm>
          <a:prstGeom prst="roundRect">
            <a:avLst>
              <a:gd name="adj" fmla="val 5161"/>
            </a:avLst>
          </a:prstGeom>
          <a:solidFill>
            <a:srgbClr val="2F3C7E"/>
          </a:solidFill>
          <a:ln/>
        </p:spPr>
      </p:sp>
      <p:sp>
        <p:nvSpPr>
          <p:cNvPr id="20" name="Text 18"/>
          <p:cNvSpPr/>
          <p:nvPr/>
        </p:nvSpPr>
        <p:spPr>
          <a:xfrm>
            <a:off x="9619488" y="15087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619488" y="2084832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Pizzas / Order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19488" y="237744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Pizzas sold ÷ orders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3108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query — Average Order Value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3474720"/>
            <a:ext cx="11064240" cy="2606040"/>
          </a:xfrm>
          <a:prstGeom prst="roundRect">
            <a:avLst>
              <a:gd name="adj" fmla="val 2807"/>
            </a:avLst>
          </a:prstGeom>
          <a:solidFill>
            <a:srgbClr val="1E1B2E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3657600"/>
            <a:ext cx="10424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SUM(quantity * unit_price) / COUNT(DISTINCT order_id), 2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AS Average_Order_Value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pizza_sales;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Same pattern used for Total Revenue, Total Pizzas Sold,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Total Orders, and Avg Pizzas per Order.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Sales Performance Analysis  |  SQL + Power BI Project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Charts, Mapped to Business Questions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4924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BE3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63040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F9E795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630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691640" y="139903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trend for total orders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91640" y="173736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6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days drive the most orders?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63640" y="1280160"/>
            <a:ext cx="534924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BE3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463040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F9E79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14630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406640" y="139903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trend for total orders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06640" y="173736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6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are the peak order hours?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560320"/>
            <a:ext cx="534924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BE3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2743200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F9E795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7432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691640" y="267919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 for total orders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91640" y="301752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6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demand shift across the year?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63640" y="2560320"/>
            <a:ext cx="534924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BE3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2743200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F9E79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27432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406640" y="267919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sales by pizza category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06640" y="301752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6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category drives revenue?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3840480"/>
            <a:ext cx="534924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BE3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4023360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F9E795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40233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691640" y="395935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sales by pizza size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691640" y="429768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6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size do customers prefer?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63640" y="3840480"/>
            <a:ext cx="534924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BE3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0" y="4023360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F9E795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40233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406640" y="395935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Pizzas sold by category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406640" y="429768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6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volume compare by category?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5120640"/>
            <a:ext cx="534924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BE3D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5800" y="5303520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F9E795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" y="530352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691640" y="523951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sellers (revenue/qty/orders)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691640" y="557784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6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we promote and stock?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63640" y="5120640"/>
            <a:ext cx="534924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BE3D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00800" y="5303520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F9E795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0" y="530352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406640" y="523951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5 sellers (revenue/qty/orders)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406640" y="557784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6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underperforming on the menu?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Sales Performance Analysis  |  SQL + Power BI Project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Dashboard — Home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Filterable by pizza category and date range — KPI cards, daily/monthly trends, and category/size mix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371600" y="1371600"/>
            <a:ext cx="9418320" cy="5166360"/>
          </a:xfrm>
          <a:prstGeom prst="roundRect">
            <a:avLst>
              <a:gd name="adj" fmla="val 7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dashboard_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463040" y="1463040"/>
            <a:ext cx="9235440" cy="4983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Sales Performance Analysis  |  SQL + Power BI Project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Dashboard — Best / Worst Sellers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Drill-down page ranking every pizza by revenue, quantity sold, and total orders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371600" y="1371600"/>
            <a:ext cx="9418320" cy="5166360"/>
          </a:xfrm>
          <a:prstGeom prst="roundRect">
            <a:avLst>
              <a:gd name="adj" fmla="val 7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dashboard_bestwor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463040" y="1463040"/>
            <a:ext cx="9235440" cy="4983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Sales Performance Analysis  |  SQL + Power BI Project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I Delivered to the Business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BE3DD"/>
            </a:solidFill>
            <a:prstDash val="solid"/>
          </a:ln>
          <a:effectLst>
            <a:outerShdw sx="100000" sy="100000" kx="0" ky="0" algn="bl" rotWithShape="0" blurRad="63500" dist="25400" dir="5400000">
              <a:srgbClr val="3A3335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49808" y="1481328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481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1499616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993392"/>
            <a:ext cx="46634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3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peak on Friday &amp; Saturday evenings; July and January are the busiest months — useful for staffing and inventory planning.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63640" y="128016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BE3DD"/>
            </a:solidFill>
            <a:prstDash val="solid"/>
          </a:ln>
          <a:effectLst>
            <a:outerShdw sx="100000" sy="100000" kx="0" ky="0" algn="bl" rotWithShape="0" blurRad="63500" dist="25400" dir="5400000">
              <a:srgbClr val="3A3335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64808" y="1481328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6464808" y="1481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76872" y="1499616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MIX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29400" y="1993392"/>
            <a:ext cx="46634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3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category contributes the most to both total sales and total orders — the menu's proven core.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990088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BE3DD"/>
            </a:solidFill>
            <a:prstDash val="solid"/>
          </a:ln>
          <a:effectLst>
            <a:outerShdw sx="100000" sy="100000" kx="0" ky="0" algn="bl" rotWithShape="0" blurRad="63500" dist="25400" dir="5400000">
              <a:srgbClr val="3A3335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9808" y="3191256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3191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61872" y="3209544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PREFERENCE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3703320"/>
            <a:ext cx="46634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3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pizzas drive the largest share of sales, ahead of Medium and Small — pricing and promos can lean into this.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63640" y="2990088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BE3DD"/>
            </a:solidFill>
            <a:prstDash val="solid"/>
          </a:ln>
          <a:effectLst>
            <a:outerShdw sx="100000" sy="100000" kx="0" ky="0" algn="bl" rotWithShape="0" blurRad="63500" dist="25400" dir="5400000">
              <a:srgbClr val="3A3335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64808" y="3191256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0" name="Text 18"/>
          <p:cNvSpPr/>
          <p:nvPr/>
        </p:nvSpPr>
        <p:spPr>
          <a:xfrm>
            <a:off x="6464808" y="3191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76872" y="3209544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29400" y="3703320"/>
            <a:ext cx="46634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3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Thai Chicken Pizza leads on revenue; the Classic Deluxe Pizza leads on quantity and total orders.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700016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BE3DD"/>
            </a:solidFill>
            <a:prstDash val="solid"/>
          </a:ln>
          <a:effectLst>
            <a:outerShdw sx="100000" sy="100000" kx="0" ky="0" algn="bl" rotWithShape="0" blurRad="63500" dist="25400" dir="5400000">
              <a:srgbClr val="3A3335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49808" y="4901184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5" name="Text 23"/>
          <p:cNvSpPr/>
          <p:nvPr/>
        </p:nvSpPr>
        <p:spPr>
          <a:xfrm>
            <a:off x="749808" y="4901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61872" y="4919472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UNDERPERFORMERS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4400" y="5413248"/>
            <a:ext cx="46634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3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 Carre Pizza ranks lowest across revenue, quantity, and orders — a candidate for menu review or a relaunch.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63640" y="4700016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BE3DD"/>
            </a:solidFill>
            <a:prstDash val="solid"/>
          </a:ln>
          <a:effectLst>
            <a:outerShdw sx="100000" sy="100000" kx="0" ky="0" algn="bl" rotWithShape="0" blurRad="63500" dist="25400" dir="5400000">
              <a:srgbClr val="3A3335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64808" y="4901184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0" name="Text 28"/>
          <p:cNvSpPr/>
          <p:nvPr/>
        </p:nvSpPr>
        <p:spPr>
          <a:xfrm>
            <a:off x="6464808" y="4901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976872" y="4919472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 SIZE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29400" y="5413248"/>
            <a:ext cx="46634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3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order 2.32 pizzas per order on average — a benchmark for future upsell or bundling efforts.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Sales Performance Analysis  |  SQL + Power BI Project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This Project Demonstrates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66160" cy="2194560"/>
          </a:xfrm>
          <a:prstGeom prst="roundRect">
            <a:avLst>
              <a:gd name="adj" fmla="val 4167"/>
            </a:avLst>
          </a:prstGeom>
          <a:solidFill>
            <a:srgbClr val="3A458F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4592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functions, window functions (OVER), CASE-based custom sorting, date/time functions, subqueries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97680" y="1417320"/>
            <a:ext cx="3566160" cy="2194560"/>
          </a:xfrm>
          <a:prstGeom prst="roundRect">
            <a:avLst>
              <a:gd name="adj" fmla="val 4167"/>
            </a:avLst>
          </a:prstGeom>
          <a:solidFill>
            <a:srgbClr val="3A458F"/>
          </a:solidFill>
          <a:ln/>
        </p:spPr>
      </p:sp>
      <p:sp>
        <p:nvSpPr>
          <p:cNvPr id="9" name="Shape 7"/>
          <p:cNvSpPr/>
          <p:nvPr/>
        </p:nvSpPr>
        <p:spPr>
          <a:xfrm>
            <a:off x="4526280" y="164592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26280" y="22860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Modeling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26280" y="26974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Structuring raw transactional data into clean, query-ready tables for reporting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46720" y="1417320"/>
            <a:ext cx="3566160" cy="2194560"/>
          </a:xfrm>
          <a:prstGeom prst="roundRect">
            <a:avLst>
              <a:gd name="adj" fmla="val 4167"/>
            </a:avLst>
          </a:prstGeom>
          <a:solidFill>
            <a:srgbClr val="3A458F"/>
          </a:solidFill>
          <a:ln/>
        </p:spPr>
      </p:sp>
      <p:sp>
        <p:nvSpPr>
          <p:cNvPr id="14" name="Shape 12"/>
          <p:cNvSpPr/>
          <p:nvPr/>
        </p:nvSpPr>
        <p:spPr>
          <a:xfrm>
            <a:off x="8275320" y="164592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827532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275320" y="22860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275320" y="26974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dashboards, slicers, DAX measures, drill-through pages, mobile-friendly layout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840480"/>
            <a:ext cx="3566160" cy="2194560"/>
          </a:xfrm>
          <a:prstGeom prst="roundRect">
            <a:avLst>
              <a:gd name="adj" fmla="val 4167"/>
            </a:avLst>
          </a:prstGeom>
          <a:solidFill>
            <a:srgbClr val="3A458F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" y="406908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77240" y="4709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Analysis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77240" y="51206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stakeholder requirements into KPIs, charts, and actionable recommendations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297680" y="3840480"/>
            <a:ext cx="3566160" cy="2194560"/>
          </a:xfrm>
          <a:prstGeom prst="roundRect">
            <a:avLst>
              <a:gd name="adj" fmla="val 4167"/>
            </a:avLst>
          </a:prstGeom>
          <a:solidFill>
            <a:srgbClr val="3A458F"/>
          </a:solidFill>
          <a:ln/>
        </p:spPr>
      </p:sp>
      <p:sp>
        <p:nvSpPr>
          <p:cNvPr id="24" name="Shape 22"/>
          <p:cNvSpPr/>
          <p:nvPr/>
        </p:nvSpPr>
        <p:spPr>
          <a:xfrm>
            <a:off x="4526280" y="406908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5" name="Text 23"/>
          <p:cNvSpPr/>
          <p:nvPr/>
        </p:nvSpPr>
        <p:spPr>
          <a:xfrm>
            <a:off x="452628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526280" y="4709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Storytelling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526280" y="51206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Presenting complex data simply — busiest days, top/bottom sellers, category performance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046720" y="3840480"/>
            <a:ext cx="3566160" cy="2194560"/>
          </a:xfrm>
          <a:prstGeom prst="roundRect">
            <a:avLst>
              <a:gd name="adj" fmla="val 4167"/>
            </a:avLst>
          </a:prstGeom>
          <a:solidFill>
            <a:srgbClr val="3A458F"/>
          </a:solidFill>
          <a:ln/>
        </p:spPr>
      </p:sp>
      <p:sp>
        <p:nvSpPr>
          <p:cNvPr id="29" name="Shape 27"/>
          <p:cNvSpPr/>
          <p:nvPr/>
        </p:nvSpPr>
        <p:spPr>
          <a:xfrm>
            <a:off x="8275320" y="406908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0" name="Text 28"/>
          <p:cNvSpPr/>
          <p:nvPr/>
        </p:nvSpPr>
        <p:spPr>
          <a:xfrm>
            <a:off x="827532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275320" y="4709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Attention to Detail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275320" y="51206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every deliverable back to the original requirements document, end to end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Sales Performance Analysis  |  SQL + Power BI Project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4206240"/>
            <a:ext cx="3840480" cy="3840480"/>
          </a:xfrm>
          <a:prstGeom prst="ellipse">
            <a:avLst/>
          </a:prstGeom>
          <a:solidFill>
            <a:srgbClr val="F9616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3108960" cy="3108960"/>
          </a:xfrm>
          <a:prstGeom prst="ellipse">
            <a:avLst/>
          </a:prstGeom>
          <a:solidFill>
            <a:srgbClr val="F9E795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to walk through the full SQL script, the Power BI data model, or any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on the dashboard in more depth.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Sales Performance Analysis  •  SQL + Power BI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2026-08-24T16:53:47Z</dcterms:created>
  <dcterms:modified xsi:type="dcterms:W3CDTF">2026-08-24T16:53:47Z</dcterms:modified>
</cp:coreProperties>
</file>